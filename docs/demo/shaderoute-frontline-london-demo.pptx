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91a12a99b54920" /><Relationship Type="http://schemas.openxmlformats.org/officeDocument/2006/relationships/extended-properties" Target="/docProps/app.xml" Id="Re96fedcf9b464b78" /><Relationship Type="http://schemas.openxmlformats.org/officeDocument/2006/relationships/officeDocument" Target="/ppt/presentation.xml" Id="R7db988c7be894964" /></Relationships>
</file>

<file path=ppt/presentation.xml><?xml version="1.0" encoding="utf-8"?>
<p:presentation xmlns:p="http://schemas.openxmlformats.org/presentationml/2006/main">
  <p:sldMasterIdLst>
    <p:sldMasterId xmlns:r="http://schemas.openxmlformats.org/officeDocument/2006/relationships" id="2147483648" r:id="Rcbf740bfa1b44ca0"/>
  </p:sldMasterIdLst>
  <p:notesMasterIdLst>
    <p:notesMasterId xmlns:r="http://schemas.openxmlformats.org/officeDocument/2006/relationships" r:id="R8460d5f6eaec41d6"/>
  </p:notesMasterIdLst>
  <p:sldIdLst>
    <p:sldId xmlns:r="http://schemas.openxmlformats.org/officeDocument/2006/relationships" id="256" r:id="R07a335907248421e"/>
    <p:sldId xmlns:r="http://schemas.openxmlformats.org/officeDocument/2006/relationships" id="257" r:id="Rcf09262843594c1b"/>
    <p:sldId xmlns:r="http://schemas.openxmlformats.org/officeDocument/2006/relationships" id="258" r:id="R9de15362871e4c8e"/>
    <p:sldId xmlns:r="http://schemas.openxmlformats.org/officeDocument/2006/relationships" id="259" r:id="Rf29425d4b50844af"/>
    <p:sldId xmlns:r="http://schemas.openxmlformats.org/officeDocument/2006/relationships" id="260" r:id="R74f72b29fc9c4b5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6120578a8d402f" /><Relationship Type="http://schemas.openxmlformats.org/officeDocument/2006/relationships/slideMaster" Target="/ppt/slideMasters/slideMaster1.xml" Id="Rcbf740bfa1b44ca0" /><Relationship Type="http://schemas.openxmlformats.org/officeDocument/2006/relationships/notesMaster" Target="/ppt/notesMasters/notesMaster1.xml" Id="R8460d5f6eaec41d6" /><Relationship Type="http://schemas.openxmlformats.org/officeDocument/2006/relationships/presProps" Target="/ppt/presProps.xml" Id="Re9535248c2e543cf" /><Relationship Type="http://schemas.openxmlformats.org/officeDocument/2006/relationships/tableStyles" Target="/ppt/tableStyles.xml" Id="Re9c84bec12884f9b" /><Relationship Type="http://schemas.openxmlformats.org/officeDocument/2006/relationships/slide" Target="/ppt/slides/slide1.xml" Id="R07a335907248421e" /><Relationship Type="http://schemas.openxmlformats.org/officeDocument/2006/relationships/slide" Target="/ppt/slides/slide2.xml" Id="Rcf09262843594c1b" /><Relationship Type="http://schemas.openxmlformats.org/officeDocument/2006/relationships/slide" Target="/ppt/slides/slide3.xml" Id="R9de15362871e4c8e" /><Relationship Type="http://schemas.openxmlformats.org/officeDocument/2006/relationships/slide" Target="/ppt/slides/slide4.xml" Id="Rf29425d4b50844af" /><Relationship Type="http://schemas.openxmlformats.org/officeDocument/2006/relationships/slide" Target="/ppt/slides/slide5.xml" Id="R74f72b29fc9c4b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ae75d477a14f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9b42f58cbb4381" /><Relationship Type="http://schemas.openxmlformats.org/officeDocument/2006/relationships/notesMaster" Target="/ppt/notesMasters/notesMaster1.xml" Id="R9aeb5c25a03640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95409af4f64326" /><Relationship Type="http://schemas.openxmlformats.org/officeDocument/2006/relationships/notesMaster" Target="/ppt/notesMasters/notesMaster1.xml" Id="R03380164417e4c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bf21776fe14236" /><Relationship Type="http://schemas.openxmlformats.org/officeDocument/2006/relationships/notesMaster" Target="/ppt/notesMasters/notesMaster1.xml" Id="Rce59e790c51647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7fcbbb721c094550" /><Relationship Type="http://schemas.openxmlformats.org/officeDocument/2006/relationships/notesMaster" Target="/ppt/notesMasters/notesMaster1.xml" Id="Rfd4af94d5c1848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8c8a804f4484a29" /><Relationship Type="http://schemas.openxmlformats.org/officeDocument/2006/relationships/notesMaster" Target="/ppt/notesMasters/notesMaster1.xml" Id="R4925b61c97a045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ShadeRoute is a mobile-first walking planner for people who need to reduce direct-sun exposure. It is designed for heat-vulnerable people and carers, and for frontline or outdoor workers making repeated journeys. In the next two minutes, I’ll show how someone plans a route, compares the trade-off and watches shade move through the day.</a:t>
            </a:r>
          </a:p>
          <a:p xmlns:a="http://schemas.openxmlformats.org/drawingml/2006/main">
            <a:r>
              <a:t/>
            </a:r>
          </a:p>
          <a:p xmlns:a="http://schemas.openxmlformats.org/drawingml/2006/main">
            <a:r>
              <a:t>[Sources]</a:t>
            </a:r>
          </a:p>
          <a:p xmlns:a="http://schemas.openxmlformats.org/drawingml/2006/main">
            <a:r>
              <a:t>- ShadeRoute local application and README.md, accessed 15 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problem is not simply finding the shortest walk. Two alternatives can take roughly the same time but pass through different street canyons, open spaces and shadows. ShadeRoute puts that exposure trade-off next to travel time. The current prototype focuses on two hospital corridors, where journeys may be repeated and where clarity matters more than a black-box recommendation.</a:t>
            </a:r>
          </a:p>
          <a:p xmlns:a="http://schemas.openxmlformats.org/drawingml/2006/main">
            <a:r>
              <a:t/>
            </a:r>
          </a:p>
          <a:p xmlns:a="http://schemas.openxmlformats.org/drawingml/2006/main">
            <a:r>
              <a:t>[Sources]</a:t>
            </a:r>
          </a:p>
          <a:p xmlns:a="http://schemas.openxmlformats.org/drawingml/2006/main">
            <a:r>
              <a:t>- ShadeRoute local application screenshot overview.png, captured 15 August 2026.</a:t>
            </a:r>
          </a:p>
          <a:p xmlns:a="http://schemas.openxmlformats.org/drawingml/2006/main">
            <a:r>
              <a:t>- ShadeRoute local application and README.md, accessed 15 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workflow is deliberately familiar. First, enter the start and destination, choose a result, use the current location, or place an exact point on the map. Second, set the London departure time and journey needs. Third, compare up to three real walking alternatives. ShadeRoute never treats unconfirmed text as a location, and custom points remain inside the selected pilot area.</a:t>
            </a:r>
          </a:p>
          <a:p xmlns:a="http://schemas.openxmlformats.org/drawingml/2006/main">
            <a:r>
              <a:t/>
            </a:r>
          </a:p>
          <a:p xmlns:a="http://schemas.openxmlformats.org/drawingml/2006/main">
            <a:r>
              <a:t>[Sources]</a:t>
            </a:r>
          </a:p>
          <a:p xmlns:a="http://schemas.openxmlformats.org/drawingml/2006/main">
            <a:r>
              <a:t>- ShadeRoute local application screenshot planner-map.png, captured 15 August 2026.</a:t>
            </a:r>
          </a:p>
          <a:p xmlns:a="http://schemas.openxmlformats.org/drawingml/2006/main">
            <a:r>
              <a:t>- ShadeRoute LocalPlaceSearch and route-planning interface, accessed 15 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centrepiece. The 3D map uses local building and surface data, then changes the displayed shadows as the departure time moves. The selected route is broken into potential sun, estimated shade, uncertain and unknown sections. That means the visual is useful without pretending the model knows more than it does. The route cards remain available if 3D is not usable.</a:t>
            </a:r>
          </a:p>
          <a:p xmlns:a="http://schemas.openxmlformats.org/drawingml/2006/main">
            <a:r>
              <a:t/>
            </a:r>
          </a:p>
          <a:p xmlns:a="http://schemas.openxmlformats.org/drawingml/2006/main">
            <a:r>
              <a:t>[Sources]</a:t>
            </a:r>
          </a:p>
          <a:p xmlns:a="http://schemas.openxmlformats.org/drawingml/2006/main">
            <a:r>
              <a:t>- ShadeRoute local application screenshot moving-shade.png, captured during time playback on 15 August 2026.</a:t>
            </a:r>
          </a:p>
          <a:p xmlns:a="http://schemas.openxmlformats.org/drawingml/2006/main">
            <a:r>
              <a:t>- ShadeRoute local model and interface copy, accessed 15 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ShadeRoute can compare real route alternatives, replay shade through time, prepare verified offline pilot packs, save journeys on-device and show optional heat or transport context. The next step is not a wider claim; it is a controlled field pilot across the two corridors, with carers and outdoor workers, and measured calibration before any stronger recommendation. ShadeRoute is practical now and honest about what still needs proof.</a:t>
            </a:r>
          </a:p>
          <a:p xmlns:a="http://schemas.openxmlformats.org/drawingml/2006/main">
            <a:r>
              <a:t/>
            </a:r>
          </a:p>
          <a:p xmlns:a="http://schemas.openxmlformats.org/drawingml/2006/main">
            <a:r>
              <a:t>[Sources]</a:t>
            </a:r>
          </a:p>
          <a:p xmlns:a="http://schemas.openxmlformats.org/drawingml/2006/main">
            <a:r>
              <a:t>- ShadeRoute local application and README.md, accessed 15 August 2026.</a:t>
            </a:r>
          </a:p>
          <a:p xmlns:a="http://schemas.openxmlformats.org/drawingml/2006/main">
            <a:r>
              <a:t>- ShadeRoute validation status and local pilot documentation, accessed 15 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eb20a7d1f441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ff05a1f85e14532" /><Relationship Type="http://schemas.openxmlformats.org/officeDocument/2006/relationships/slideLayout" Target="/ppt/slideLayouts/slideLayout1.xml" Id="R22b36d3daf28402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b36d3daf28402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abfc57c7e34281" /><Relationship Type="http://schemas.openxmlformats.org/officeDocument/2006/relationships/notesSlide" Target="/ppt/notesSlides/notesSlide1.xml" Id="Rdb186706f54c4df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9d7b0ce0dc49e5" /><Relationship Type="http://schemas.openxmlformats.org/officeDocument/2006/relationships/image" Target="/ppt/media/image.jpeg" Id="R7dd71beaee534a99" /><Relationship Type="http://schemas.openxmlformats.org/officeDocument/2006/relationships/notesSlide" Target="/ppt/notesSlides/notesSlide2.xml" Id="R40daca03891c4f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afb930ac264106" /><Relationship Type="http://schemas.openxmlformats.org/officeDocument/2006/relationships/image" Target="/ppt/media/image2.jpeg" Id="R0229f5e2a0104c8b" /><Relationship Type="http://schemas.openxmlformats.org/officeDocument/2006/relationships/notesSlide" Target="/ppt/notesSlides/notesSlide3.xml" Id="R7147650459ed46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d5c593ac6c44c42" /><Relationship Type="http://schemas.openxmlformats.org/officeDocument/2006/relationships/image" Target="/ppt/media/image3.jpeg" Id="Recc566d589d64149" /><Relationship Type="http://schemas.openxmlformats.org/officeDocument/2006/relationships/notesSlide" Target="/ppt/notesSlides/notesSlide4.xml" Id="R7b58f0b31a7349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bdb5c607d204aad" /><Relationship Type="http://schemas.openxmlformats.org/officeDocument/2006/relationships/notesSlide" Target="/ppt/notesSlides/notesSlide5.xml" Id="R3509225ec54e41e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ver-kicker">
            <a:extLst xmlns:a="http://schemas.openxmlformats.org/drawingml/2006/main">
              <a:ext uri="{FF2B5EF4-FFF2-40B4-BE49-F238E27FC236}">
                <a16:creationId xmlns:a16="http://schemas.microsoft.com/office/drawing/2014/main" id="{C96D1638-45EC-479C-8EA6-68F1B34B865C}"/>
              </a:ext>
            </a:extLst>
          </p:cNvPr>
          <p:cNvSpPr>
            <a:spLocks xmlns:a="http://schemas.openxmlformats.org/drawingml/2006/main" noGrp="1"/>
          </p:cNvSpPr>
          <p:nvPr/>
        </p:nvSpPr>
        <p:spPr>
          <a:xfrm xmlns:a="http://schemas.openxmlformats.org/drawingml/2006/main">
            <a:off x="457200" y="400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D735F"/>
                </a:solidFill>
              </a:defRPr>
            </a:pPr>
            <a:r>
              <a:rPr sz="1800" b="1">
                <a:solidFill>
                  <a:srgbClr val="0D735F"/>
                </a:solidFill>
              </a:rPr>
              <a:t>FRONTLINE LONDON</a:t>
            </a:r>
          </a:p>
        </p:txBody>
      </p:sp>
      <p:sp>
        <p:nvSpPr>
          <p:cNvPr id="2" name="cover-duration">
            <a:extLst xmlns:a="http://schemas.openxmlformats.org/drawingml/2006/main">
              <a:ext uri="{FF2B5EF4-FFF2-40B4-BE49-F238E27FC236}">
                <a16:creationId xmlns:a16="http://schemas.microsoft.com/office/drawing/2014/main" id="{F975ADFB-1F18-4579-BE42-A5713A8DD2C5}"/>
              </a:ext>
            </a:extLst>
          </p:cNvPr>
          <p:cNvSpPr>
            <a:spLocks xmlns:a="http://schemas.openxmlformats.org/drawingml/2006/main" noGrp="1"/>
          </p:cNvSpPr>
          <p:nvPr/>
        </p:nvSpPr>
        <p:spPr>
          <a:xfrm xmlns:a="http://schemas.openxmlformats.org/drawingml/2006/main">
            <a:off x="7524750" y="400050"/>
            <a:ext cx="4210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5E6E68"/>
                </a:solidFill>
              </a:defRPr>
            </a:pPr>
            <a:r>
              <a:rPr sz="1650" b="1">
                <a:solidFill>
                  <a:srgbClr val="5E6E68"/>
                </a:solidFill>
              </a:rPr>
              <a:t>2–3 MINUTE PRODUCT DEMO</a:t>
            </a:r>
          </a:p>
        </p:txBody>
      </p:sp>
      <p:sp>
        <p:nvSpPr>
          <p:cNvPr id="3" name="cover-rule">
            <a:extLst xmlns:a="http://schemas.openxmlformats.org/drawingml/2006/main">
              <a:ext uri="{FF2B5EF4-FFF2-40B4-BE49-F238E27FC236}">
                <a16:creationId xmlns:a16="http://schemas.microsoft.com/office/drawing/2014/main" id="{DADB85A4-2C1D-488A-B256-AB4997836012}"/>
              </a:ext>
            </a:extLst>
          </p:cNvPr>
          <p:cNvSpPr>
            <a:spLocks xmlns:a="http://schemas.openxmlformats.org/drawingml/2006/main" noGrp="1"/>
          </p:cNvSpPr>
          <p:nvPr/>
        </p:nvSpPr>
        <p:spPr>
          <a:xfrm xmlns:a="http://schemas.openxmlformats.org/drawingml/2006/main">
            <a:off x="457200" y="952500"/>
            <a:ext cx="11277600" cy="19050"/>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4" name="cover-title">
            <a:extLst xmlns:a="http://schemas.openxmlformats.org/drawingml/2006/main">
              <a:ext uri="{FF2B5EF4-FFF2-40B4-BE49-F238E27FC236}">
                <a16:creationId xmlns:a16="http://schemas.microsoft.com/office/drawing/2014/main" id="{8E36F722-E775-4F09-8B0D-990F50BBA149}"/>
              </a:ext>
            </a:extLst>
          </p:cNvPr>
          <p:cNvSpPr>
            <a:spLocks xmlns:a="http://schemas.openxmlformats.org/drawingml/2006/main" noGrp="1"/>
          </p:cNvSpPr>
          <p:nvPr/>
        </p:nvSpPr>
        <p:spPr>
          <a:xfrm xmlns:a="http://schemas.openxmlformats.org/drawingml/2006/main">
            <a:off x="457200" y="2381250"/>
            <a:ext cx="10572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lstStyle xmlns:a="http://schemas.openxmlformats.org/drawingml/2006/main"/>
          <a:p xmlns:a="http://schemas.openxmlformats.org/drawingml/2006/main">
            <a:pPr algn="l">
              <a:defRPr sz="6000" b="1">
                <a:solidFill>
                  <a:srgbClr val="173A31"/>
                </a:solidFill>
              </a:defRPr>
            </a:pPr>
            <a:r>
              <a:rPr sz="6000" b="1">
                <a:solidFill>
                  <a:srgbClr val="173A31"/>
                </a:solidFill>
              </a:rPr>
              <a:t>Walk with less direct sun.</a:t>
            </a:r>
          </a:p>
        </p:txBody>
      </p:sp>
      <p:sp>
        <p:nvSpPr>
          <p:cNvPr id="5" name="cover-subtitle">
            <a:extLst xmlns:a="http://schemas.openxmlformats.org/drawingml/2006/main">
              <a:ext uri="{FF2B5EF4-FFF2-40B4-BE49-F238E27FC236}">
                <a16:creationId xmlns:a16="http://schemas.microsoft.com/office/drawing/2014/main" id="{B4514C68-F98C-4009-BB42-C24CFB26C37F}"/>
              </a:ext>
            </a:extLst>
          </p:cNvPr>
          <p:cNvSpPr>
            <a:spLocks xmlns:a="http://schemas.openxmlformats.org/drawingml/2006/main" noGrp="1"/>
          </p:cNvSpPr>
          <p:nvPr/>
        </p:nvSpPr>
        <p:spPr>
          <a:xfrm xmlns:a="http://schemas.openxmlformats.org/drawingml/2006/main">
            <a:off x="457200" y="4171950"/>
            <a:ext cx="8382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0">
                <a:solidFill>
                  <a:srgbClr val="5E6E68"/>
                </a:solidFill>
              </a:defRPr>
            </a:pPr>
            <a:r>
              <a:rPr sz="2250" b="0">
                <a:solidFill>
                  <a:srgbClr val="5E6E68"/>
                </a:solidFill>
              </a:rPr>
              <a:t>ShadeRoute compares journey time with modelled clear-sky exposure before people set off.</a:t>
            </a:r>
          </a:p>
        </p:txBody>
      </p:sp>
      <p:sp>
        <p:nvSpPr>
          <p:cNvPr id="6" name="cover-accent">
            <a:extLst xmlns:a="http://schemas.openxmlformats.org/drawingml/2006/main">
              <a:ext uri="{FF2B5EF4-FFF2-40B4-BE49-F238E27FC236}">
                <a16:creationId xmlns:a16="http://schemas.microsoft.com/office/drawing/2014/main" id="{7F33FC84-04E2-4F60-9AB5-7BE781823830}"/>
              </a:ext>
            </a:extLst>
          </p:cNvPr>
          <p:cNvSpPr>
            <a:spLocks xmlns:a="http://schemas.openxmlformats.org/drawingml/2006/main" noGrp="1"/>
          </p:cNvSpPr>
          <p:nvPr/>
        </p:nvSpPr>
        <p:spPr>
          <a:xfrm xmlns:a="http://schemas.openxmlformats.org/drawingml/2006/main">
            <a:off x="457200" y="5715000"/>
            <a:ext cx="1752600" cy="95250"/>
          </a:xfrm>
          <a:prstGeom xmlns:a="http://schemas.openxmlformats.org/drawingml/2006/main" prst="rect">
            <a:avLst/>
          </a:prstGeom>
          <a:solidFill xmlns:a="http://schemas.openxmlformats.org/drawingml/2006/main">
            <a:srgbClr val="0D735F"/>
          </a:solidFill>
          <a:ln xmlns:a="http://schemas.openxmlformats.org/drawingml/2006/main" w="0">
            <a:solidFill>
              <a:srgbClr val="0D735F"/>
            </a:solidFill>
            <a:prstDash val="solid"/>
          </a:ln>
        </p:spPr>
      </p:sp>
    </p:spTree>
    <p:extLst>
      <p:ext uri="{BB962C8B-B14F-4D97-AF65-F5344CB8AC3E}">
        <p14:creationId xmlns:p14="http://schemas.microsoft.com/office/powerpoint/2010/main" val="877724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problem-title">
            <a:extLst xmlns:a="http://schemas.openxmlformats.org/drawingml/2006/main">
              <a:ext uri="{FF2B5EF4-FFF2-40B4-BE49-F238E27FC236}">
                <a16:creationId xmlns:a16="http://schemas.microsoft.com/office/drawing/2014/main" id="{04608ADD-2740-4FCD-A322-490B9528C795}"/>
              </a:ext>
            </a:extLst>
          </p:cNvPr>
          <p:cNvSpPr>
            <a:spLocks xmlns:a="http://schemas.openxmlformats.org/drawingml/2006/main" noGrp="1"/>
          </p:cNvSpPr>
          <p:nvPr/>
        </p:nvSpPr>
        <p:spPr>
          <a:xfrm xmlns:a="http://schemas.openxmlformats.org/drawingml/2006/main">
            <a:off x="457200" y="3429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173A31"/>
                </a:solidFill>
              </a:defRPr>
            </a:pPr>
            <a:r>
              <a:rPr sz="3600" b="1">
                <a:solidFill>
                  <a:srgbClr val="173A31"/>
                </a:solidFill>
              </a:rPr>
              <a:t>Same walk time. Different sun exposure.</a:t>
            </a:r>
          </a:p>
        </p:txBody>
      </p:sp>
      <p:sp>
        <p:nvSpPr>
          <p:cNvPr id="2" name="problem-title-rule">
            <a:extLst xmlns:a="http://schemas.openxmlformats.org/drawingml/2006/main">
              <a:ext uri="{FF2B5EF4-FFF2-40B4-BE49-F238E27FC236}">
                <a16:creationId xmlns:a16="http://schemas.microsoft.com/office/drawing/2014/main" id="{163CEED7-ED06-4899-BB1C-EA433C5A5AB9}"/>
              </a:ext>
            </a:extLst>
          </p:cNvPr>
          <p:cNvSpPr>
            <a:spLocks xmlns:a="http://schemas.openxmlformats.org/drawingml/2006/main" noGrp="1"/>
          </p:cNvSpPr>
          <p:nvPr/>
        </p:nvSpPr>
        <p:spPr>
          <a:xfrm xmlns:a="http://schemas.openxmlformats.org/drawingml/2006/main">
            <a:off x="457200" y="1104900"/>
            <a:ext cx="11277600" cy="19050"/>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3" name="problem-lead">
            <a:extLst xmlns:a="http://schemas.openxmlformats.org/drawingml/2006/main">
              <a:ext uri="{FF2B5EF4-FFF2-40B4-BE49-F238E27FC236}">
                <a16:creationId xmlns:a16="http://schemas.microsoft.com/office/drawing/2014/main" id="{4CE27E34-879E-4D10-932A-771AA848287E}"/>
              </a:ext>
            </a:extLst>
          </p:cNvPr>
          <p:cNvSpPr>
            <a:spLocks xmlns:a="http://schemas.openxmlformats.org/drawingml/2006/main" noGrp="1"/>
          </p:cNvSpPr>
          <p:nvPr/>
        </p:nvSpPr>
        <p:spPr>
          <a:xfrm xmlns:a="http://schemas.openxmlformats.org/drawingml/2006/main">
            <a:off x="457200" y="1619250"/>
            <a:ext cx="495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73A31"/>
                </a:solidFill>
              </a:defRPr>
            </a:pPr>
            <a:r>
              <a:rPr sz="2325" b="1">
                <a:solidFill>
                  <a:srgbClr val="173A31"/>
                </a:solidFill>
              </a:rPr>
              <a:t>Most route planners optimise time. ShadeRoute adds another decision: how much of the walk may be in direct sun under clear skies?</a:t>
            </a:r>
          </a:p>
        </p:txBody>
      </p:sp>
      <p:sp>
        <p:nvSpPr>
          <p:cNvPr id="4" name="problem-audience">
            <a:extLst xmlns:a="http://schemas.openxmlformats.org/drawingml/2006/main">
              <a:ext uri="{FF2B5EF4-FFF2-40B4-BE49-F238E27FC236}">
                <a16:creationId xmlns:a16="http://schemas.microsoft.com/office/drawing/2014/main" id="{C7E4E334-6189-479F-9333-23204E409F8C}"/>
              </a:ext>
            </a:extLst>
          </p:cNvPr>
          <p:cNvSpPr>
            <a:spLocks xmlns:a="http://schemas.openxmlformats.org/drawingml/2006/main" noGrp="1"/>
          </p:cNvSpPr>
          <p:nvPr/>
        </p:nvSpPr>
        <p:spPr>
          <a:xfrm xmlns:a="http://schemas.openxmlformats.org/drawingml/2006/main">
            <a:off x="457200" y="3771900"/>
            <a:ext cx="4953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E6E68"/>
                </a:solidFill>
              </a:defRPr>
            </a:pPr>
            <a:r>
              <a:rPr sz="1800" b="0">
                <a:solidFill>
                  <a:srgbClr val="5E6E68"/>
                </a:solidFill>
              </a:rPr>
              <a:t>Built for hospital journeys, carers and people working outdoors — where a small route change can make a repeated walk easier to plan.</a:t>
            </a:r>
          </a:p>
        </p:txBody>
      </p:sp>
      <p:sp>
        <p:nvSpPr>
          <p:cNvPr id="5" name="problem-boundary">
            <a:extLst xmlns:a="http://schemas.openxmlformats.org/drawingml/2006/main">
              <a:ext uri="{FF2B5EF4-FFF2-40B4-BE49-F238E27FC236}">
                <a16:creationId xmlns:a16="http://schemas.microsoft.com/office/drawing/2014/main" id="{3907A9C9-63C1-4617-8026-45BAFA975365}"/>
              </a:ext>
            </a:extLst>
          </p:cNvPr>
          <p:cNvSpPr>
            <a:spLocks xmlns:a="http://schemas.openxmlformats.org/drawingml/2006/main" noGrp="1"/>
          </p:cNvSpPr>
          <p:nvPr/>
        </p:nvSpPr>
        <p:spPr>
          <a:xfrm xmlns:a="http://schemas.openxmlformats.org/drawingml/2006/main">
            <a:off x="457200" y="56197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C76736"/>
                </a:solidFill>
              </a:defRPr>
            </a:pPr>
            <a:r>
              <a:rPr sz="1350" b="1">
                <a:solidFill>
                  <a:srgbClr val="C76736"/>
                </a:solidFill>
              </a:rPr>
              <a:t>Planning support · not a medical or safety score</a:t>
            </a:r>
          </a:p>
        </p:txBody>
      </p:sp>
      <p:sp>
        <p:nvSpPr>
          <p:cNvPr id="6" name="problem-image-frame">
            <a:extLst xmlns:a="http://schemas.openxmlformats.org/drawingml/2006/main">
              <a:ext uri="{FF2B5EF4-FFF2-40B4-BE49-F238E27FC236}">
                <a16:creationId xmlns:a16="http://schemas.microsoft.com/office/drawing/2014/main" id="{DAC9B063-9B64-44DA-9E6A-C95F2FBEC1FF}"/>
              </a:ext>
            </a:extLst>
          </p:cNvPr>
          <p:cNvSpPr>
            <a:spLocks xmlns:a="http://schemas.openxmlformats.org/drawingml/2006/main" noGrp="1"/>
          </p:cNvSpPr>
          <p:nvPr/>
        </p:nvSpPr>
        <p:spPr>
          <a:xfrm xmlns:a="http://schemas.openxmlformats.org/drawingml/2006/main">
            <a:off x="5905500" y="1352550"/>
            <a:ext cx="5829300" cy="4667250"/>
          </a:xfrm>
          <a:prstGeom xmlns:a="http://schemas.openxmlformats.org/drawingml/2006/main" prst="roundRect">
            <a:avLst>
              <a:gd name="adj" fmla="val 2449"/>
            </a:avLst>
          </a:prstGeom>
          <a:solidFill xmlns:a="http://schemas.openxmlformats.org/drawingml/2006/main">
            <a:srgbClr val="F6F4EE"/>
          </a:solidFill>
          <a:ln xmlns:a="http://schemas.openxmlformats.org/drawingml/2006/main" w="9525">
            <a:solidFill>
              <a:srgbClr val="BFC7C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dd71beaee534a99"/>
          <a:srcRect xmlns:a="http://schemas.openxmlformats.org/drawingml/2006/main" l="0" t="6841" r="0" b="6841"/>
          <a:stretch xmlns:a="http://schemas.openxmlformats.org/drawingml/2006/main">
            <a:fillRect l="0" t="0" r="0" b="0"/>
          </a:stretch>
        </p:blipFill>
        <p:spPr>
          <a:xfrm xmlns:a="http://schemas.openxmlformats.org/drawingml/2006/main">
            <a:off x="6000750" y="1447800"/>
            <a:ext cx="5638800" cy="4476750"/>
          </a:xfrm>
          <a:prstGeom xmlns:a="http://schemas.openxmlformats.org/drawingml/2006/main" prst="roundRect">
            <a:avLst>
              <a:gd name="adj" fmla="val 2553"/>
            </a:avLst>
          </a:prstGeom>
        </p:spPr>
      </p:pic>
      <p:sp>
        <p:nvSpPr>
          <p:cNvPr id="8" name="footer-rule-2">
            <a:extLst xmlns:a="http://schemas.openxmlformats.org/drawingml/2006/main">
              <a:ext uri="{FF2B5EF4-FFF2-40B4-BE49-F238E27FC236}">
                <a16:creationId xmlns:a16="http://schemas.microsoft.com/office/drawing/2014/main" id="{D14F466B-9BC4-460A-8BF0-005831AD2FB6}"/>
              </a:ext>
            </a:extLst>
          </p:cNvPr>
          <p:cNvSpPr>
            <a:spLocks xmlns:a="http://schemas.openxmlformats.org/drawingml/2006/main" noGrp="1"/>
          </p:cNvSpPr>
          <p:nvPr/>
        </p:nvSpPr>
        <p:spPr>
          <a:xfrm xmlns:a="http://schemas.openxmlformats.org/drawingml/2006/main">
            <a:off x="457200" y="6438900"/>
            <a:ext cx="11277600" cy="9525"/>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9" name="footer-label-2">
            <a:extLst xmlns:a="http://schemas.openxmlformats.org/drawingml/2006/main">
              <a:ext uri="{FF2B5EF4-FFF2-40B4-BE49-F238E27FC236}">
                <a16:creationId xmlns:a16="http://schemas.microsoft.com/office/drawing/2014/main" id="{E91F407E-60B5-4726-B142-2A7406087A32}"/>
              </a:ext>
            </a:extLst>
          </p:cNvPr>
          <p:cNvSpPr>
            <a:spLocks xmlns:a="http://schemas.openxmlformats.org/drawingml/2006/main" noGrp="1"/>
          </p:cNvSpPr>
          <p:nvPr/>
        </p:nvSpPr>
        <p:spPr>
          <a:xfrm xmlns:a="http://schemas.openxmlformats.org/drawingml/2006/main">
            <a:off x="457200" y="65151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E6E68"/>
                </a:solidFill>
              </a:defRPr>
            </a:pPr>
            <a:r>
              <a:rPr sz="1050" b="1">
                <a:solidFill>
                  <a:srgbClr val="5E6E68"/>
                </a:solidFill>
              </a:rPr>
              <a:t>SHADE ROUTE · FRONTLINE LONDON</a:t>
            </a:r>
          </a:p>
        </p:txBody>
      </p:sp>
      <p:sp>
        <p:nvSpPr>
          <p:cNvPr id="10" name="footer-page-2">
            <a:extLst xmlns:a="http://schemas.openxmlformats.org/drawingml/2006/main">
              <a:ext uri="{FF2B5EF4-FFF2-40B4-BE49-F238E27FC236}">
                <a16:creationId xmlns:a16="http://schemas.microsoft.com/office/drawing/2014/main" id="{F517CAEA-B557-475A-AAAC-9E203C7061E6}"/>
              </a:ext>
            </a:extLst>
          </p:cNvPr>
          <p:cNvSpPr>
            <a:spLocks xmlns:a="http://schemas.openxmlformats.org/drawingml/2006/main" noGrp="1"/>
          </p:cNvSpPr>
          <p:nvPr/>
        </p:nvSpPr>
        <p:spPr>
          <a:xfrm xmlns:a="http://schemas.openxmlformats.org/drawingml/2006/main">
            <a:off x="11239500" y="65151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5E6E68"/>
                </a:solidFill>
              </a:defRPr>
            </a:pPr>
            <a:r>
              <a:rPr sz="1050" b="1">
                <a:solidFill>
                  <a:srgbClr val="5E6E68"/>
                </a:solidFill>
              </a:rPr>
              <a:t>02</a:t>
            </a:r>
          </a:p>
        </p:txBody>
      </p:sp>
    </p:spTree>
    <p:extLst>
      <p:ext uri="{BB962C8B-B14F-4D97-AF65-F5344CB8AC3E}">
        <p14:creationId xmlns:p14="http://schemas.microsoft.com/office/powerpoint/2010/main" val="16745705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flow-title">
            <a:extLst xmlns:a="http://schemas.openxmlformats.org/drawingml/2006/main">
              <a:ext uri="{FF2B5EF4-FFF2-40B4-BE49-F238E27FC236}">
                <a16:creationId xmlns:a16="http://schemas.microsoft.com/office/drawing/2014/main" id="{181D671C-3B55-4E7A-BEB2-9C9DF06EAFD6}"/>
              </a:ext>
            </a:extLst>
          </p:cNvPr>
          <p:cNvSpPr>
            <a:spLocks xmlns:a="http://schemas.openxmlformats.org/drawingml/2006/main" noGrp="1"/>
          </p:cNvSpPr>
          <p:nvPr/>
        </p:nvSpPr>
        <p:spPr>
          <a:xfrm xmlns:a="http://schemas.openxmlformats.org/drawingml/2006/main">
            <a:off x="457200" y="3429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173A31"/>
                </a:solidFill>
              </a:defRPr>
            </a:pPr>
            <a:r>
              <a:rPr sz="3600" b="1">
                <a:solidFill>
                  <a:srgbClr val="173A31"/>
                </a:solidFill>
              </a:rPr>
              <a:t>Plan the journey in three steps.</a:t>
            </a:r>
          </a:p>
        </p:txBody>
      </p:sp>
      <p:sp>
        <p:nvSpPr>
          <p:cNvPr id="2" name="flow-title-rule">
            <a:extLst xmlns:a="http://schemas.openxmlformats.org/drawingml/2006/main">
              <a:ext uri="{FF2B5EF4-FFF2-40B4-BE49-F238E27FC236}">
                <a16:creationId xmlns:a16="http://schemas.microsoft.com/office/drawing/2014/main" id="{F6BE5E56-6F33-4B2D-9D58-FA96851695DA}"/>
              </a:ext>
            </a:extLst>
          </p:cNvPr>
          <p:cNvSpPr>
            <a:spLocks xmlns:a="http://schemas.openxmlformats.org/drawingml/2006/main" noGrp="1"/>
          </p:cNvSpPr>
          <p:nvPr/>
        </p:nvSpPr>
        <p:spPr>
          <a:xfrm xmlns:a="http://schemas.openxmlformats.org/drawingml/2006/main">
            <a:off x="457200" y="1104900"/>
            <a:ext cx="11277600" cy="19050"/>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3" name="flow-image-frame">
            <a:extLst xmlns:a="http://schemas.openxmlformats.org/drawingml/2006/main">
              <a:ext uri="{FF2B5EF4-FFF2-40B4-BE49-F238E27FC236}">
                <a16:creationId xmlns:a16="http://schemas.microsoft.com/office/drawing/2014/main" id="{F795C106-F659-46EC-AF36-9AA0FC50A650}"/>
              </a:ext>
            </a:extLst>
          </p:cNvPr>
          <p:cNvSpPr>
            <a:spLocks xmlns:a="http://schemas.openxmlformats.org/drawingml/2006/main" noGrp="1"/>
          </p:cNvSpPr>
          <p:nvPr/>
        </p:nvSpPr>
        <p:spPr>
          <a:xfrm xmlns:a="http://schemas.openxmlformats.org/drawingml/2006/main">
            <a:off x="457200" y="1428750"/>
            <a:ext cx="6667500" cy="4591050"/>
          </a:xfrm>
          <a:prstGeom xmlns:a="http://schemas.openxmlformats.org/drawingml/2006/main" prst="roundRect">
            <a:avLst>
              <a:gd name="adj" fmla="val 2490"/>
            </a:avLst>
          </a:prstGeom>
          <a:solidFill xmlns:a="http://schemas.openxmlformats.org/drawingml/2006/main">
            <a:srgbClr val="F6F4EE"/>
          </a:solidFill>
          <a:ln xmlns:a="http://schemas.openxmlformats.org/drawingml/2006/main" w="9525">
            <a:solidFill>
              <a:srgbClr val="BFC7C2"/>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229f5e2a0104c8b"/>
          <a:srcRect xmlns:a="http://schemas.openxmlformats.org/drawingml/2006/main" l="0" t="13066" r="0" b="13066"/>
          <a:stretch xmlns:a="http://schemas.openxmlformats.org/drawingml/2006/main">
            <a:fillRect l="0" t="0" r="0" b="0"/>
          </a:stretch>
        </p:blipFill>
        <p:spPr>
          <a:xfrm xmlns:a="http://schemas.openxmlformats.org/drawingml/2006/main">
            <a:off x="552450" y="1524000"/>
            <a:ext cx="6477000" cy="4400550"/>
          </a:xfrm>
          <a:prstGeom xmlns:a="http://schemas.openxmlformats.org/drawingml/2006/main" prst="roundRect">
            <a:avLst>
              <a:gd name="adj" fmla="val 2597"/>
            </a:avLst>
          </a:prstGeom>
        </p:spPr>
      </p:pic>
      <p:sp>
        <p:nvSpPr>
          <p:cNvPr id="5" name="flow-number-0">
            <a:extLst xmlns:a="http://schemas.openxmlformats.org/drawingml/2006/main">
              <a:ext uri="{FF2B5EF4-FFF2-40B4-BE49-F238E27FC236}">
                <a16:creationId xmlns:a16="http://schemas.microsoft.com/office/drawing/2014/main" id="{145A50D1-B37B-4D4C-9F07-6C071A14D3E0}"/>
              </a:ext>
            </a:extLst>
          </p:cNvPr>
          <p:cNvSpPr>
            <a:spLocks xmlns:a="http://schemas.openxmlformats.org/drawingml/2006/main" noGrp="1"/>
          </p:cNvSpPr>
          <p:nvPr/>
        </p:nvSpPr>
        <p:spPr>
          <a:xfrm xmlns:a="http://schemas.openxmlformats.org/drawingml/2006/main">
            <a:off x="7543800" y="142875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D735F"/>
                </a:solidFill>
              </a:defRPr>
            </a:pPr>
            <a:r>
              <a:rPr sz="1650" b="1">
                <a:solidFill>
                  <a:srgbClr val="0D735F"/>
                </a:solidFill>
              </a:rPr>
              <a:t>01</a:t>
            </a:r>
          </a:p>
        </p:txBody>
      </p:sp>
      <p:sp>
        <p:nvSpPr>
          <p:cNvPr id="6" name="flow-heading-0">
            <a:extLst xmlns:a="http://schemas.openxmlformats.org/drawingml/2006/main">
              <a:ext uri="{FF2B5EF4-FFF2-40B4-BE49-F238E27FC236}">
                <a16:creationId xmlns:a16="http://schemas.microsoft.com/office/drawing/2014/main" id="{0301AB51-E1F3-4402-AF7C-AB2E319C88FF}"/>
              </a:ext>
            </a:extLst>
          </p:cNvPr>
          <p:cNvSpPr>
            <a:spLocks xmlns:a="http://schemas.openxmlformats.org/drawingml/2006/main" noGrp="1"/>
          </p:cNvSpPr>
          <p:nvPr/>
        </p:nvSpPr>
        <p:spPr>
          <a:xfrm xmlns:a="http://schemas.openxmlformats.org/drawingml/2006/main">
            <a:off x="8191500" y="1409700"/>
            <a:ext cx="342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73A31"/>
                </a:solidFill>
              </a:defRPr>
            </a:pPr>
            <a:r>
              <a:rPr sz="2100" b="1">
                <a:solidFill>
                  <a:srgbClr val="173A31"/>
                </a:solidFill>
              </a:rPr>
              <a:t>Enter locations</a:t>
            </a:r>
          </a:p>
        </p:txBody>
      </p:sp>
      <p:sp>
        <p:nvSpPr>
          <p:cNvPr id="7" name="flow-body-0">
            <a:extLst xmlns:a="http://schemas.openxmlformats.org/drawingml/2006/main">
              <a:ext uri="{FF2B5EF4-FFF2-40B4-BE49-F238E27FC236}">
                <a16:creationId xmlns:a16="http://schemas.microsoft.com/office/drawing/2014/main" id="{30CB89D9-8018-4273-9839-0ED5C401ED47}"/>
              </a:ext>
            </a:extLst>
          </p:cNvPr>
          <p:cNvSpPr>
            <a:spLocks xmlns:a="http://schemas.openxmlformats.org/drawingml/2006/main" noGrp="1"/>
          </p:cNvSpPr>
          <p:nvPr/>
        </p:nvSpPr>
        <p:spPr>
          <a:xfrm xmlns:a="http://schemas.openxmlformats.org/drawingml/2006/main">
            <a:off x="8191500" y="1885950"/>
            <a:ext cx="3333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5E6E68"/>
                </a:solidFill>
              </a:defRPr>
            </a:pPr>
            <a:r>
              <a:rPr sz="1500" b="0">
                <a:solidFill>
                  <a:srgbClr val="5E6E68"/>
                </a:solidFill>
              </a:rPr>
              <a:t>Type a place or postcode, choose on the map, or use the device location.</a:t>
            </a:r>
          </a:p>
        </p:txBody>
      </p:sp>
      <p:sp>
        <p:nvSpPr>
          <p:cNvPr id="8" name="flow-rule-0">
            <a:extLst xmlns:a="http://schemas.openxmlformats.org/drawingml/2006/main">
              <a:ext uri="{FF2B5EF4-FFF2-40B4-BE49-F238E27FC236}">
                <a16:creationId xmlns:a16="http://schemas.microsoft.com/office/drawing/2014/main" id="{B514559D-5559-45EC-86DD-030B07DC18F3}"/>
              </a:ext>
            </a:extLst>
          </p:cNvPr>
          <p:cNvSpPr>
            <a:spLocks xmlns:a="http://schemas.openxmlformats.org/drawingml/2006/main" noGrp="1"/>
          </p:cNvSpPr>
          <p:nvPr/>
        </p:nvSpPr>
        <p:spPr>
          <a:xfrm xmlns:a="http://schemas.openxmlformats.org/drawingml/2006/main">
            <a:off x="7543800" y="2781300"/>
            <a:ext cx="4076700" cy="9525"/>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9" name="flow-number-1">
            <a:extLst xmlns:a="http://schemas.openxmlformats.org/drawingml/2006/main">
              <a:ext uri="{FF2B5EF4-FFF2-40B4-BE49-F238E27FC236}">
                <a16:creationId xmlns:a16="http://schemas.microsoft.com/office/drawing/2014/main" id="{51E912E4-06A9-40B4-9D83-45EA51D41173}"/>
              </a:ext>
            </a:extLst>
          </p:cNvPr>
          <p:cNvSpPr>
            <a:spLocks xmlns:a="http://schemas.openxmlformats.org/drawingml/2006/main" noGrp="1"/>
          </p:cNvSpPr>
          <p:nvPr/>
        </p:nvSpPr>
        <p:spPr>
          <a:xfrm xmlns:a="http://schemas.openxmlformats.org/drawingml/2006/main">
            <a:off x="7543800" y="29337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D735F"/>
                </a:solidFill>
              </a:defRPr>
            </a:pPr>
            <a:r>
              <a:rPr sz="1650" b="1">
                <a:solidFill>
                  <a:srgbClr val="0D735F"/>
                </a:solidFill>
              </a:rPr>
              <a:t>02</a:t>
            </a:r>
          </a:p>
        </p:txBody>
      </p:sp>
      <p:sp>
        <p:nvSpPr>
          <p:cNvPr id="10" name="flow-heading-1">
            <a:extLst xmlns:a="http://schemas.openxmlformats.org/drawingml/2006/main">
              <a:ext uri="{FF2B5EF4-FFF2-40B4-BE49-F238E27FC236}">
                <a16:creationId xmlns:a16="http://schemas.microsoft.com/office/drawing/2014/main" id="{82303C6F-0CF8-413A-81E5-13446DBCB43A}"/>
              </a:ext>
            </a:extLst>
          </p:cNvPr>
          <p:cNvSpPr>
            <a:spLocks xmlns:a="http://schemas.openxmlformats.org/drawingml/2006/main" noGrp="1"/>
          </p:cNvSpPr>
          <p:nvPr/>
        </p:nvSpPr>
        <p:spPr>
          <a:xfrm xmlns:a="http://schemas.openxmlformats.org/drawingml/2006/main">
            <a:off x="8191500" y="2914650"/>
            <a:ext cx="342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73A31"/>
                </a:solidFill>
              </a:defRPr>
            </a:pPr>
            <a:r>
              <a:rPr sz="2100" b="1">
                <a:solidFill>
                  <a:srgbClr val="173A31"/>
                </a:solidFill>
              </a:rPr>
              <a:t>Set the journey</a:t>
            </a:r>
          </a:p>
        </p:txBody>
      </p:sp>
      <p:sp>
        <p:nvSpPr>
          <p:cNvPr id="11" name="flow-body-1">
            <a:extLst xmlns:a="http://schemas.openxmlformats.org/drawingml/2006/main">
              <a:ext uri="{FF2B5EF4-FFF2-40B4-BE49-F238E27FC236}">
                <a16:creationId xmlns:a16="http://schemas.microsoft.com/office/drawing/2014/main" id="{F81B3BE0-10B6-4120-B3D8-D17B626B02F6}"/>
              </a:ext>
            </a:extLst>
          </p:cNvPr>
          <p:cNvSpPr>
            <a:spLocks xmlns:a="http://schemas.openxmlformats.org/drawingml/2006/main" noGrp="1"/>
          </p:cNvSpPr>
          <p:nvPr/>
        </p:nvSpPr>
        <p:spPr>
          <a:xfrm xmlns:a="http://schemas.openxmlformats.org/drawingml/2006/main">
            <a:off x="8191500" y="3390900"/>
            <a:ext cx="3333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5E6E68"/>
                </a:solidFill>
              </a:defRPr>
            </a:pPr>
            <a:r>
              <a:rPr sz="1500" b="0">
                <a:solidFill>
                  <a:srgbClr val="5E6E68"/>
                </a:solidFill>
              </a:rPr>
              <a:t>Choose London time, audience, modelled pace and any known-step preference.</a:t>
            </a:r>
          </a:p>
        </p:txBody>
      </p:sp>
      <p:sp>
        <p:nvSpPr>
          <p:cNvPr id="12" name="flow-rule-1">
            <a:extLst xmlns:a="http://schemas.openxmlformats.org/drawingml/2006/main">
              <a:ext uri="{FF2B5EF4-FFF2-40B4-BE49-F238E27FC236}">
                <a16:creationId xmlns:a16="http://schemas.microsoft.com/office/drawing/2014/main" id="{B631C27C-5824-477E-A8BF-875D02128A36}"/>
              </a:ext>
            </a:extLst>
          </p:cNvPr>
          <p:cNvSpPr>
            <a:spLocks xmlns:a="http://schemas.openxmlformats.org/drawingml/2006/main" noGrp="1"/>
          </p:cNvSpPr>
          <p:nvPr/>
        </p:nvSpPr>
        <p:spPr>
          <a:xfrm xmlns:a="http://schemas.openxmlformats.org/drawingml/2006/main">
            <a:off x="7543800" y="4286250"/>
            <a:ext cx="4076700" cy="9525"/>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13" name="flow-number-2">
            <a:extLst xmlns:a="http://schemas.openxmlformats.org/drawingml/2006/main">
              <a:ext uri="{FF2B5EF4-FFF2-40B4-BE49-F238E27FC236}">
                <a16:creationId xmlns:a16="http://schemas.microsoft.com/office/drawing/2014/main" id="{6B666D99-80FF-457F-BABD-729A5E986DE4}"/>
              </a:ext>
            </a:extLst>
          </p:cNvPr>
          <p:cNvSpPr>
            <a:spLocks xmlns:a="http://schemas.openxmlformats.org/drawingml/2006/main" noGrp="1"/>
          </p:cNvSpPr>
          <p:nvPr/>
        </p:nvSpPr>
        <p:spPr>
          <a:xfrm xmlns:a="http://schemas.openxmlformats.org/drawingml/2006/main">
            <a:off x="7543800" y="443865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D735F"/>
                </a:solidFill>
              </a:defRPr>
            </a:pPr>
            <a:r>
              <a:rPr sz="1650" b="1">
                <a:solidFill>
                  <a:srgbClr val="0D735F"/>
                </a:solidFill>
              </a:rPr>
              <a:t>03</a:t>
            </a:r>
          </a:p>
        </p:txBody>
      </p:sp>
      <p:sp>
        <p:nvSpPr>
          <p:cNvPr id="14" name="flow-heading-2">
            <a:extLst xmlns:a="http://schemas.openxmlformats.org/drawingml/2006/main">
              <a:ext uri="{FF2B5EF4-FFF2-40B4-BE49-F238E27FC236}">
                <a16:creationId xmlns:a16="http://schemas.microsoft.com/office/drawing/2014/main" id="{130DFD52-FAF8-455F-823A-9640734A0BF4}"/>
              </a:ext>
            </a:extLst>
          </p:cNvPr>
          <p:cNvSpPr>
            <a:spLocks xmlns:a="http://schemas.openxmlformats.org/drawingml/2006/main" noGrp="1"/>
          </p:cNvSpPr>
          <p:nvPr/>
        </p:nvSpPr>
        <p:spPr>
          <a:xfrm xmlns:a="http://schemas.openxmlformats.org/drawingml/2006/main">
            <a:off x="8191500" y="4419600"/>
            <a:ext cx="342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73A31"/>
                </a:solidFill>
              </a:defRPr>
            </a:pPr>
            <a:r>
              <a:rPr sz="2100" b="1">
                <a:solidFill>
                  <a:srgbClr val="173A31"/>
                </a:solidFill>
              </a:rPr>
              <a:t>Compare alternatives</a:t>
            </a:r>
          </a:p>
        </p:txBody>
      </p:sp>
      <p:sp>
        <p:nvSpPr>
          <p:cNvPr id="15" name="flow-body-2">
            <a:extLst xmlns:a="http://schemas.openxmlformats.org/drawingml/2006/main">
              <a:ext uri="{FF2B5EF4-FFF2-40B4-BE49-F238E27FC236}">
                <a16:creationId xmlns:a16="http://schemas.microsoft.com/office/drawing/2014/main" id="{891BCBB2-1E0E-40C3-9DAF-F598F9EC04D4}"/>
              </a:ext>
            </a:extLst>
          </p:cNvPr>
          <p:cNvSpPr>
            <a:spLocks xmlns:a="http://schemas.openxmlformats.org/drawingml/2006/main" noGrp="1"/>
          </p:cNvSpPr>
          <p:nvPr/>
        </p:nvSpPr>
        <p:spPr>
          <a:xfrm xmlns:a="http://schemas.openxmlformats.org/drawingml/2006/main">
            <a:off x="8191500" y="4895850"/>
            <a:ext cx="3333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5E6E68"/>
                </a:solidFill>
              </a:defRPr>
            </a:pPr>
            <a:r>
              <a:rPr sz="1500" b="0">
                <a:solidFill>
                  <a:srgbClr val="5E6E68"/>
                </a:solidFill>
              </a:rPr>
              <a:t>Review time, potential direct sun, sensitivity and model coverage together.</a:t>
            </a:r>
          </a:p>
        </p:txBody>
      </p:sp>
      <p:sp>
        <p:nvSpPr>
          <p:cNvPr id="16" name="footer-rule-3">
            <a:extLst xmlns:a="http://schemas.openxmlformats.org/drawingml/2006/main">
              <a:ext uri="{FF2B5EF4-FFF2-40B4-BE49-F238E27FC236}">
                <a16:creationId xmlns:a16="http://schemas.microsoft.com/office/drawing/2014/main" id="{2BEF5369-52B3-4BF5-BD9D-2B92713137CF}"/>
              </a:ext>
            </a:extLst>
          </p:cNvPr>
          <p:cNvSpPr>
            <a:spLocks xmlns:a="http://schemas.openxmlformats.org/drawingml/2006/main" noGrp="1"/>
          </p:cNvSpPr>
          <p:nvPr/>
        </p:nvSpPr>
        <p:spPr>
          <a:xfrm xmlns:a="http://schemas.openxmlformats.org/drawingml/2006/main">
            <a:off x="457200" y="6438900"/>
            <a:ext cx="11277600" cy="9525"/>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17" name="footer-label-3">
            <a:extLst xmlns:a="http://schemas.openxmlformats.org/drawingml/2006/main">
              <a:ext uri="{FF2B5EF4-FFF2-40B4-BE49-F238E27FC236}">
                <a16:creationId xmlns:a16="http://schemas.microsoft.com/office/drawing/2014/main" id="{D6275FEE-7B83-488F-9A5D-0FB1336D6FA2}"/>
              </a:ext>
            </a:extLst>
          </p:cNvPr>
          <p:cNvSpPr>
            <a:spLocks xmlns:a="http://schemas.openxmlformats.org/drawingml/2006/main" noGrp="1"/>
          </p:cNvSpPr>
          <p:nvPr/>
        </p:nvSpPr>
        <p:spPr>
          <a:xfrm xmlns:a="http://schemas.openxmlformats.org/drawingml/2006/main">
            <a:off x="457200" y="65151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E6E68"/>
                </a:solidFill>
              </a:defRPr>
            </a:pPr>
            <a:r>
              <a:rPr sz="1050" b="1">
                <a:solidFill>
                  <a:srgbClr val="5E6E68"/>
                </a:solidFill>
              </a:rPr>
              <a:t>SHADE ROUTE · FRONTLINE LONDON</a:t>
            </a:r>
          </a:p>
        </p:txBody>
      </p:sp>
      <p:sp>
        <p:nvSpPr>
          <p:cNvPr id="18" name="footer-page-3">
            <a:extLst xmlns:a="http://schemas.openxmlformats.org/drawingml/2006/main">
              <a:ext uri="{FF2B5EF4-FFF2-40B4-BE49-F238E27FC236}">
                <a16:creationId xmlns:a16="http://schemas.microsoft.com/office/drawing/2014/main" id="{503FC0EB-9876-4ABB-9047-5037935973EB}"/>
              </a:ext>
            </a:extLst>
          </p:cNvPr>
          <p:cNvSpPr>
            <a:spLocks xmlns:a="http://schemas.openxmlformats.org/drawingml/2006/main" noGrp="1"/>
          </p:cNvSpPr>
          <p:nvPr/>
        </p:nvSpPr>
        <p:spPr>
          <a:xfrm xmlns:a="http://schemas.openxmlformats.org/drawingml/2006/main">
            <a:off x="11239500" y="65151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5E6E68"/>
                </a:solidFill>
              </a:defRPr>
            </a:pPr>
            <a:r>
              <a:rPr sz="1050" b="1">
                <a:solidFill>
                  <a:srgbClr val="5E6E68"/>
                </a:solidFill>
              </a:rPr>
              <a:t>03</a:t>
            </a:r>
          </a:p>
        </p:txBody>
      </p:sp>
    </p:spTree>
    <p:extLst>
      <p:ext uri="{BB962C8B-B14F-4D97-AF65-F5344CB8AC3E}">
        <p14:creationId xmlns:p14="http://schemas.microsoft.com/office/powerpoint/2010/main" val="167388647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hade-title">
            <a:extLst xmlns:a="http://schemas.openxmlformats.org/drawingml/2006/main">
              <a:ext uri="{FF2B5EF4-FFF2-40B4-BE49-F238E27FC236}">
                <a16:creationId xmlns:a16="http://schemas.microsoft.com/office/drawing/2014/main" id="{0765F86A-AC79-4087-B27A-268EFAFC53C3}"/>
              </a:ext>
            </a:extLst>
          </p:cNvPr>
          <p:cNvSpPr>
            <a:spLocks xmlns:a="http://schemas.openxmlformats.org/drawingml/2006/main" noGrp="1"/>
          </p:cNvSpPr>
          <p:nvPr/>
        </p:nvSpPr>
        <p:spPr>
          <a:xfrm xmlns:a="http://schemas.openxmlformats.org/drawingml/2006/main">
            <a:off x="457200" y="3429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173A31"/>
                </a:solidFill>
              </a:defRPr>
            </a:pPr>
            <a:r>
              <a:rPr sz="3600" b="1">
                <a:solidFill>
                  <a:srgbClr val="173A31"/>
                </a:solidFill>
              </a:rPr>
              <a:t>The map shows shade moving through the day.</a:t>
            </a:r>
          </a:p>
        </p:txBody>
      </p:sp>
      <p:sp>
        <p:nvSpPr>
          <p:cNvPr id="2" name="shade-title-rule">
            <a:extLst xmlns:a="http://schemas.openxmlformats.org/drawingml/2006/main">
              <a:ext uri="{FF2B5EF4-FFF2-40B4-BE49-F238E27FC236}">
                <a16:creationId xmlns:a16="http://schemas.microsoft.com/office/drawing/2014/main" id="{D51D0B81-3029-4759-8FFD-0DCB0426B4EB}"/>
              </a:ext>
            </a:extLst>
          </p:cNvPr>
          <p:cNvSpPr>
            <a:spLocks xmlns:a="http://schemas.openxmlformats.org/drawingml/2006/main" noGrp="1"/>
          </p:cNvSpPr>
          <p:nvPr/>
        </p:nvSpPr>
        <p:spPr>
          <a:xfrm xmlns:a="http://schemas.openxmlformats.org/drawingml/2006/main">
            <a:off x="457200" y="1104900"/>
            <a:ext cx="11277600" cy="19050"/>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3" name="shade-lead">
            <a:extLst xmlns:a="http://schemas.openxmlformats.org/drawingml/2006/main">
              <a:ext uri="{FF2B5EF4-FFF2-40B4-BE49-F238E27FC236}">
                <a16:creationId xmlns:a16="http://schemas.microsoft.com/office/drawing/2014/main" id="{47653D05-AA5A-4BEB-AB57-F7A4DC2FAECE}"/>
              </a:ext>
            </a:extLst>
          </p:cNvPr>
          <p:cNvSpPr>
            <a:spLocks xmlns:a="http://schemas.openxmlformats.org/drawingml/2006/main" noGrp="1"/>
          </p:cNvSpPr>
          <p:nvPr/>
        </p:nvSpPr>
        <p:spPr>
          <a:xfrm xmlns:a="http://schemas.openxmlformats.org/drawingml/2006/main">
            <a:off x="457200" y="1676400"/>
            <a:ext cx="3905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73A31"/>
                </a:solidFill>
              </a:defRPr>
            </a:pPr>
            <a:r>
              <a:rPr sz="2325" b="1">
                <a:solidFill>
                  <a:srgbClr val="173A31"/>
                </a:solidFill>
              </a:rPr>
              <a:t>Drag the time slider — or press play — and the 3D scene updates with the sun.</a:t>
            </a:r>
          </a:p>
        </p:txBody>
      </p:sp>
      <p:sp>
        <p:nvSpPr>
          <p:cNvPr id="4" name="shade-accent">
            <a:extLst xmlns:a="http://schemas.openxmlformats.org/drawingml/2006/main">
              <a:ext uri="{FF2B5EF4-FFF2-40B4-BE49-F238E27FC236}">
                <a16:creationId xmlns:a16="http://schemas.microsoft.com/office/drawing/2014/main" id="{A2C657BB-F9BC-46C9-ADC2-58F65389B8DB}"/>
              </a:ext>
            </a:extLst>
          </p:cNvPr>
          <p:cNvSpPr>
            <a:spLocks xmlns:a="http://schemas.openxmlformats.org/drawingml/2006/main" noGrp="1"/>
          </p:cNvSpPr>
          <p:nvPr/>
        </p:nvSpPr>
        <p:spPr>
          <a:xfrm xmlns:a="http://schemas.openxmlformats.org/drawingml/2006/main">
            <a:off x="457200" y="3543300"/>
            <a:ext cx="1524000" cy="76200"/>
          </a:xfrm>
          <a:prstGeom xmlns:a="http://schemas.openxmlformats.org/drawingml/2006/main" prst="rect">
            <a:avLst/>
          </a:prstGeom>
          <a:solidFill xmlns:a="http://schemas.openxmlformats.org/drawingml/2006/main">
            <a:srgbClr val="0D735F"/>
          </a:solidFill>
          <a:ln xmlns:a="http://schemas.openxmlformats.org/drawingml/2006/main" w="0">
            <a:solidFill>
              <a:srgbClr val="0D735F"/>
            </a:solidFill>
            <a:prstDash val="solid"/>
          </a:ln>
        </p:spPr>
      </p:sp>
      <p:sp>
        <p:nvSpPr>
          <p:cNvPr id="5" name="shade-proof-1">
            <a:extLst xmlns:a="http://schemas.openxmlformats.org/drawingml/2006/main">
              <a:ext uri="{FF2B5EF4-FFF2-40B4-BE49-F238E27FC236}">
                <a16:creationId xmlns:a16="http://schemas.microsoft.com/office/drawing/2014/main" id="{F12018D1-88C9-4977-AE17-AEE0C88CBEBE}"/>
              </a:ext>
            </a:extLst>
          </p:cNvPr>
          <p:cNvSpPr>
            <a:spLocks xmlns:a="http://schemas.openxmlformats.org/drawingml/2006/main" noGrp="1"/>
          </p:cNvSpPr>
          <p:nvPr/>
        </p:nvSpPr>
        <p:spPr>
          <a:xfrm xmlns:a="http://schemas.openxmlformats.org/drawingml/2006/main">
            <a:off x="457200" y="39052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73A31"/>
                </a:solidFill>
              </a:defRPr>
            </a:pPr>
            <a:r>
              <a:rPr sz="1725" b="1">
                <a:solidFill>
                  <a:srgbClr val="173A31"/>
                </a:solidFill>
              </a:rPr>
              <a:t>3D buildings and ground shadows</a:t>
            </a:r>
          </a:p>
        </p:txBody>
      </p:sp>
      <p:sp>
        <p:nvSpPr>
          <p:cNvPr id="6" name="shade-proof-2">
            <a:extLst xmlns:a="http://schemas.openxmlformats.org/drawingml/2006/main">
              <a:ext uri="{FF2B5EF4-FFF2-40B4-BE49-F238E27FC236}">
                <a16:creationId xmlns:a16="http://schemas.microsoft.com/office/drawing/2014/main" id="{EB0BF294-7EEA-4E21-B327-EA28D5A4DEBE}"/>
              </a:ext>
            </a:extLst>
          </p:cNvPr>
          <p:cNvSpPr>
            <a:spLocks xmlns:a="http://schemas.openxmlformats.org/drawingml/2006/main" noGrp="1"/>
          </p:cNvSpPr>
          <p:nvPr/>
        </p:nvSpPr>
        <p:spPr>
          <a:xfrm xmlns:a="http://schemas.openxmlformats.org/drawingml/2006/main">
            <a:off x="457200" y="445770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73A31"/>
                </a:solidFill>
              </a:defRPr>
            </a:pPr>
            <a:r>
              <a:rPr sz="1725" b="1">
                <a:solidFill>
                  <a:srgbClr val="173A31"/>
                </a:solidFill>
              </a:rPr>
              <a:t>Route sections coloured by exposure</a:t>
            </a:r>
          </a:p>
        </p:txBody>
      </p:sp>
      <p:sp>
        <p:nvSpPr>
          <p:cNvPr id="7" name="shade-proof-3">
            <a:extLst xmlns:a="http://schemas.openxmlformats.org/drawingml/2006/main">
              <a:ext uri="{FF2B5EF4-FFF2-40B4-BE49-F238E27FC236}">
                <a16:creationId xmlns:a16="http://schemas.microsoft.com/office/drawing/2014/main" id="{4136651B-A6C4-4995-A8F8-99AB28F546B8}"/>
              </a:ext>
            </a:extLst>
          </p:cNvPr>
          <p:cNvSpPr>
            <a:spLocks xmlns:a="http://schemas.openxmlformats.org/drawingml/2006/main" noGrp="1"/>
          </p:cNvSpPr>
          <p:nvPr/>
        </p:nvSpPr>
        <p:spPr>
          <a:xfrm xmlns:a="http://schemas.openxmlformats.org/drawingml/2006/main">
            <a:off x="457200" y="5010150"/>
            <a:ext cx="3714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73A31"/>
                </a:solidFill>
              </a:defRPr>
            </a:pPr>
            <a:r>
              <a:rPr sz="1725" b="1">
                <a:solidFill>
                  <a:srgbClr val="173A31"/>
                </a:solidFill>
              </a:rPr>
              <a:t>Unknown and uncertain sections stay visible</a:t>
            </a:r>
          </a:p>
        </p:txBody>
      </p:sp>
      <p:sp>
        <p:nvSpPr>
          <p:cNvPr id="8" name="shade-image-frame">
            <a:extLst xmlns:a="http://schemas.openxmlformats.org/drawingml/2006/main">
              <a:ext uri="{FF2B5EF4-FFF2-40B4-BE49-F238E27FC236}">
                <a16:creationId xmlns:a16="http://schemas.microsoft.com/office/drawing/2014/main" id="{F4B5A75A-5194-49CE-B4D0-F3528190EF26}"/>
              </a:ext>
            </a:extLst>
          </p:cNvPr>
          <p:cNvSpPr>
            <a:spLocks xmlns:a="http://schemas.openxmlformats.org/drawingml/2006/main" noGrp="1"/>
          </p:cNvSpPr>
          <p:nvPr/>
        </p:nvSpPr>
        <p:spPr>
          <a:xfrm xmlns:a="http://schemas.openxmlformats.org/drawingml/2006/main">
            <a:off x="4476750" y="1390650"/>
            <a:ext cx="7258050" cy="4629150"/>
          </a:xfrm>
          <a:prstGeom xmlns:a="http://schemas.openxmlformats.org/drawingml/2006/main" prst="roundRect">
            <a:avLst>
              <a:gd name="adj" fmla="val 2469"/>
            </a:avLst>
          </a:prstGeom>
          <a:solidFill xmlns:a="http://schemas.openxmlformats.org/drawingml/2006/main">
            <a:srgbClr val="F6F4EE"/>
          </a:solidFill>
          <a:ln xmlns:a="http://schemas.openxmlformats.org/drawingml/2006/main" w="9525">
            <a:solidFill>
              <a:srgbClr val="BFC7C2"/>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cc566d589d64149"/>
          <a:srcRect xmlns:a="http://schemas.openxmlformats.org/drawingml/2006/main" l="0" t="15859" r="0" b="15859"/>
          <a:stretch xmlns:a="http://schemas.openxmlformats.org/drawingml/2006/main">
            <a:fillRect l="0" t="0" r="0" b="0"/>
          </a:stretch>
        </p:blipFill>
        <p:spPr>
          <a:xfrm xmlns:a="http://schemas.openxmlformats.org/drawingml/2006/main">
            <a:off x="4572000" y="1485900"/>
            <a:ext cx="7067550" cy="4438650"/>
          </a:xfrm>
          <a:prstGeom xmlns:a="http://schemas.openxmlformats.org/drawingml/2006/main" prst="roundRect">
            <a:avLst>
              <a:gd name="adj" fmla="val 2575"/>
            </a:avLst>
          </a:prstGeom>
        </p:spPr>
      </p:pic>
      <p:sp>
        <p:nvSpPr>
          <p:cNvPr id="10" name="footer-rule-4">
            <a:extLst xmlns:a="http://schemas.openxmlformats.org/drawingml/2006/main">
              <a:ext uri="{FF2B5EF4-FFF2-40B4-BE49-F238E27FC236}">
                <a16:creationId xmlns:a16="http://schemas.microsoft.com/office/drawing/2014/main" id="{8FBF175B-8D24-4DD5-9284-1ED90C4A97D5}"/>
              </a:ext>
            </a:extLst>
          </p:cNvPr>
          <p:cNvSpPr>
            <a:spLocks xmlns:a="http://schemas.openxmlformats.org/drawingml/2006/main" noGrp="1"/>
          </p:cNvSpPr>
          <p:nvPr/>
        </p:nvSpPr>
        <p:spPr>
          <a:xfrm xmlns:a="http://schemas.openxmlformats.org/drawingml/2006/main">
            <a:off x="457200" y="6438900"/>
            <a:ext cx="11277600" cy="9525"/>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11" name="footer-label-4">
            <a:extLst xmlns:a="http://schemas.openxmlformats.org/drawingml/2006/main">
              <a:ext uri="{FF2B5EF4-FFF2-40B4-BE49-F238E27FC236}">
                <a16:creationId xmlns:a16="http://schemas.microsoft.com/office/drawing/2014/main" id="{D25882D7-3801-443E-99F2-8406C5FC4654}"/>
              </a:ext>
            </a:extLst>
          </p:cNvPr>
          <p:cNvSpPr>
            <a:spLocks xmlns:a="http://schemas.openxmlformats.org/drawingml/2006/main" noGrp="1"/>
          </p:cNvSpPr>
          <p:nvPr/>
        </p:nvSpPr>
        <p:spPr>
          <a:xfrm xmlns:a="http://schemas.openxmlformats.org/drawingml/2006/main">
            <a:off x="457200" y="65151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E6E68"/>
                </a:solidFill>
              </a:defRPr>
            </a:pPr>
            <a:r>
              <a:rPr sz="1050" b="1">
                <a:solidFill>
                  <a:srgbClr val="5E6E68"/>
                </a:solidFill>
              </a:rPr>
              <a:t>SHADE ROUTE · FRONTLINE LONDON</a:t>
            </a:r>
          </a:p>
        </p:txBody>
      </p:sp>
      <p:sp>
        <p:nvSpPr>
          <p:cNvPr id="12" name="footer-page-4">
            <a:extLst xmlns:a="http://schemas.openxmlformats.org/drawingml/2006/main">
              <a:ext uri="{FF2B5EF4-FFF2-40B4-BE49-F238E27FC236}">
                <a16:creationId xmlns:a16="http://schemas.microsoft.com/office/drawing/2014/main" id="{9DB97BEE-1F99-4052-8353-DE53FED86AC2}"/>
              </a:ext>
            </a:extLst>
          </p:cNvPr>
          <p:cNvSpPr>
            <a:spLocks xmlns:a="http://schemas.openxmlformats.org/drawingml/2006/main" noGrp="1"/>
          </p:cNvSpPr>
          <p:nvPr/>
        </p:nvSpPr>
        <p:spPr>
          <a:xfrm xmlns:a="http://schemas.openxmlformats.org/drawingml/2006/main">
            <a:off x="11239500" y="65151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5E6E68"/>
                </a:solidFill>
              </a:defRPr>
            </a:pPr>
            <a:r>
              <a:rPr sz="1050" b="1">
                <a:solidFill>
                  <a:srgbClr val="5E6E68"/>
                </a:solidFill>
              </a:rPr>
              <a:t>04</a:t>
            </a:r>
          </a:p>
        </p:txBody>
      </p:sp>
    </p:spTree>
    <p:extLst>
      <p:ext uri="{BB962C8B-B14F-4D97-AF65-F5344CB8AC3E}">
        <p14:creationId xmlns:p14="http://schemas.microsoft.com/office/powerpoint/2010/main" val="33342621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lose-kicker">
            <a:extLst xmlns:a="http://schemas.openxmlformats.org/drawingml/2006/main">
              <a:ext uri="{FF2B5EF4-FFF2-40B4-BE49-F238E27FC236}">
                <a16:creationId xmlns:a16="http://schemas.microsoft.com/office/drawing/2014/main" id="{7E3CCCD7-76FC-47DB-AFD0-31DAF19554F7}"/>
              </a:ext>
            </a:extLst>
          </p:cNvPr>
          <p:cNvSpPr>
            <a:spLocks xmlns:a="http://schemas.openxmlformats.org/drawingml/2006/main" noGrp="1"/>
          </p:cNvSpPr>
          <p:nvPr/>
        </p:nvSpPr>
        <p:spPr>
          <a:xfrm xmlns:a="http://schemas.openxmlformats.org/drawingml/2006/main">
            <a:off x="457200" y="4000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D735F"/>
                </a:solidFill>
              </a:defRPr>
            </a:pPr>
            <a:r>
              <a:rPr sz="1800" b="1">
                <a:solidFill>
                  <a:srgbClr val="0D735F"/>
                </a:solidFill>
              </a:rPr>
              <a:t>NEXT STEP</a:t>
            </a:r>
          </a:p>
        </p:txBody>
      </p:sp>
      <p:sp>
        <p:nvSpPr>
          <p:cNvPr id="2" name="close-rule">
            <a:extLst xmlns:a="http://schemas.openxmlformats.org/drawingml/2006/main">
              <a:ext uri="{FF2B5EF4-FFF2-40B4-BE49-F238E27FC236}">
                <a16:creationId xmlns:a16="http://schemas.microsoft.com/office/drawing/2014/main" id="{13CB4438-D4CA-4CE3-9750-8792B505D10B}"/>
              </a:ext>
            </a:extLst>
          </p:cNvPr>
          <p:cNvSpPr>
            <a:spLocks xmlns:a="http://schemas.openxmlformats.org/drawingml/2006/main" noGrp="1"/>
          </p:cNvSpPr>
          <p:nvPr/>
        </p:nvSpPr>
        <p:spPr>
          <a:xfrm xmlns:a="http://schemas.openxmlformats.org/drawingml/2006/main">
            <a:off x="457200" y="952500"/>
            <a:ext cx="11277600" cy="19050"/>
          </a:xfrm>
          <a:prstGeom xmlns:a="http://schemas.openxmlformats.org/drawingml/2006/main" prst="rect">
            <a:avLst/>
          </a:prstGeom>
          <a:solidFill xmlns:a="http://schemas.openxmlformats.org/drawingml/2006/main">
            <a:srgbClr val="BFC7C2"/>
          </a:solidFill>
          <a:ln xmlns:a="http://schemas.openxmlformats.org/drawingml/2006/main" w="0">
            <a:solidFill>
              <a:srgbClr val="BFC7C2"/>
            </a:solidFill>
            <a:prstDash val="solid"/>
          </a:ln>
        </p:spPr>
      </p:sp>
      <p:sp>
        <p:nvSpPr>
          <p:cNvPr id="3" name="close-title">
            <a:extLst xmlns:a="http://schemas.openxmlformats.org/drawingml/2006/main">
              <a:ext uri="{FF2B5EF4-FFF2-40B4-BE49-F238E27FC236}">
                <a16:creationId xmlns:a16="http://schemas.microsoft.com/office/drawing/2014/main" id="{4C33CF9A-C83D-47C0-81FC-9308018A21D5}"/>
              </a:ext>
            </a:extLst>
          </p:cNvPr>
          <p:cNvSpPr>
            <a:spLocks xmlns:a="http://schemas.openxmlformats.org/drawingml/2006/main" noGrp="1"/>
          </p:cNvSpPr>
          <p:nvPr/>
        </p:nvSpPr>
        <p:spPr>
          <a:xfrm xmlns:a="http://schemas.openxmlformats.org/drawingml/2006/main">
            <a:off x="457200" y="1657350"/>
            <a:ext cx="971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lstStyle xmlns:a="http://schemas.openxmlformats.org/drawingml/2006/main"/>
          <a:p xmlns:a="http://schemas.openxmlformats.org/drawingml/2006/main">
            <a:pPr algn="l">
              <a:defRPr sz="5850" b="1">
                <a:solidFill>
                  <a:srgbClr val="173A31"/>
                </a:solidFill>
              </a:defRPr>
            </a:pPr>
            <a:r>
              <a:rPr sz="5850" b="1">
                <a:solidFill>
                  <a:srgbClr val="173A31"/>
                </a:solidFill>
              </a:rPr>
              <a:t>Take ShadeRoute</a:t>
            </a:r>
          </a:p>
          <a:p xmlns:a="http://schemas.openxmlformats.org/drawingml/2006/main">
            <a:pPr algn="l">
              <a:defRPr sz="5850" b="1">
                <a:solidFill>
                  <a:srgbClr val="173A31"/>
                </a:solidFill>
              </a:defRPr>
            </a:pPr>
            <a:r>
              <a:rPr sz="5850" b="1">
                <a:solidFill>
                  <a:srgbClr val="173A31"/>
                </a:solidFill>
              </a:rPr>
              <a:t>into the field.</a:t>
            </a:r>
          </a:p>
        </p:txBody>
      </p:sp>
      <p:sp>
        <p:nvSpPr>
          <p:cNvPr id="4" name="close-lines">
            <a:extLst xmlns:a="http://schemas.openxmlformats.org/drawingml/2006/main">
              <a:ext uri="{FF2B5EF4-FFF2-40B4-BE49-F238E27FC236}">
                <a16:creationId xmlns:a16="http://schemas.microsoft.com/office/drawing/2014/main" id="{ABFC466A-1685-495A-B7EC-E4412FEF520D}"/>
              </a:ext>
            </a:extLst>
          </p:cNvPr>
          <p:cNvSpPr>
            <a:spLocks xmlns:a="http://schemas.openxmlformats.org/drawingml/2006/main" noGrp="1"/>
          </p:cNvSpPr>
          <p:nvPr/>
        </p:nvSpPr>
        <p:spPr>
          <a:xfrm xmlns:a="http://schemas.openxmlformats.org/drawingml/2006/main">
            <a:off x="457200" y="4857750"/>
            <a:ext cx="6286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5E6E68"/>
                </a:solidFill>
              </a:defRPr>
            </a:pPr>
            <a:r>
              <a:rPr sz="2025" b="0">
                <a:solidFill>
                  <a:srgbClr val="5E6E68"/>
                </a:solidFill>
              </a:rPr>
              <a:t>Two London hospital corridors</a:t>
            </a:r>
          </a:p>
          <a:p xmlns:a="http://schemas.openxmlformats.org/drawingml/2006/main">
            <a:pPr algn="l">
              <a:defRPr sz="2025" b="0">
                <a:solidFill>
                  <a:srgbClr val="5E6E68"/>
                </a:solidFill>
              </a:defRPr>
            </a:pPr>
            <a:r>
              <a:rPr sz="2025" b="0">
                <a:solidFill>
                  <a:srgbClr val="5E6E68"/>
                </a:solidFill>
              </a:rPr>
              <a:t>Carer + outdoor-worker task testing</a:t>
            </a:r>
          </a:p>
          <a:p xmlns:a="http://schemas.openxmlformats.org/drawingml/2006/main">
            <a:pPr algn="l">
              <a:defRPr sz="2025" b="0">
                <a:solidFill>
                  <a:srgbClr val="5E6E68"/>
                </a:solidFill>
              </a:defRPr>
            </a:pPr>
            <a:r>
              <a:rPr sz="2025" b="0">
                <a:solidFill>
                  <a:srgbClr val="5E6E68"/>
                </a:solidFill>
              </a:rPr>
              <a:t>Field calibration before stronger claims</a:t>
            </a:r>
          </a:p>
        </p:txBody>
      </p:sp>
      <p:sp>
        <p:nvSpPr>
          <p:cNvPr id="5" name="close-accent-field">
            <a:extLst xmlns:a="http://schemas.openxmlformats.org/drawingml/2006/main">
              <a:ext uri="{FF2B5EF4-FFF2-40B4-BE49-F238E27FC236}">
                <a16:creationId xmlns:a16="http://schemas.microsoft.com/office/drawing/2014/main" id="{CED4F5E6-71FA-4D69-9843-54105F2DE630}"/>
              </a:ext>
            </a:extLst>
          </p:cNvPr>
          <p:cNvSpPr>
            <a:spLocks xmlns:a="http://schemas.openxmlformats.org/drawingml/2006/main" noGrp="1"/>
          </p:cNvSpPr>
          <p:nvPr/>
        </p:nvSpPr>
        <p:spPr>
          <a:xfrm xmlns:a="http://schemas.openxmlformats.org/drawingml/2006/main">
            <a:off x="11049000" y="0"/>
            <a:ext cx="1143000" cy="6858000"/>
          </a:xfrm>
          <a:prstGeom xmlns:a="http://schemas.openxmlformats.org/drawingml/2006/main" prst="rect">
            <a:avLst/>
          </a:prstGeom>
          <a:solidFill xmlns:a="http://schemas.openxmlformats.org/drawingml/2006/main">
            <a:srgbClr val="0D735F"/>
          </a:solidFill>
          <a:ln xmlns:a="http://schemas.openxmlformats.org/drawingml/2006/main" w="0">
            <a:solidFill>
              <a:srgbClr val="0D735F"/>
            </a:solidFill>
            <a:prstDash val="solid"/>
          </a:ln>
        </p:spPr>
      </p:sp>
    </p:spTree>
    <p:extLst>
      <p:ext uri="{BB962C8B-B14F-4D97-AF65-F5344CB8AC3E}">
        <p14:creationId xmlns:p14="http://schemas.microsoft.com/office/powerpoint/2010/main" val="2300482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2026-08-15T12:17:34.5910000Z</dcterms:created>
  <dcterms:modified xsi:type="dcterms:W3CDTF">2026-08-15T12:17:34.5910000Z</dcterms:modified>
</coreProperties>
</file>